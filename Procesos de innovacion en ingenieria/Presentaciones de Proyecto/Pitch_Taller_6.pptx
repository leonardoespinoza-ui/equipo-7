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900" b="1">
                <a:solidFill>
                  <a:srgbClr val="1B3630"/>
                </a:solidFill>
                <a:latin typeface="Aptos"/>
              </a:defRPr>
            </a:pPr>
            <a:r>
              <a:t>Una misma área verde, necesidades distintas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0">
                <a:solidFill>
                  <a:srgbClr val="5B706A"/>
                </a:solidFill>
                <a:latin typeface="Aptos"/>
              </a:defRPr>
            </a:pPr>
            <a:r>
              <a:t>Situación inicial: riego uniforme sin conocer la humedad de cada zona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8229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100" b="0">
                <a:solidFill>
                  <a:srgbClr val="5B706A"/>
                </a:solidFill>
                <a:latin typeface="Aptos"/>
              </a:defRPr>
            </a:pPr>
            <a:r>
              <a:t>01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7315200" cy="4297680"/>
          </a:xfrm>
          <a:prstGeom prst="roundRect">
            <a:avLst/>
          </a:prstGeom>
          <a:solidFill>
            <a:srgbClr val="E9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48256"/>
            <a:ext cx="3127248" cy="3520440"/>
          </a:xfrm>
          <a:prstGeom prst="roundRect">
            <a:avLst/>
          </a:prstGeom>
          <a:solidFill>
            <a:srgbClr val="E1D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33672" y="2048256"/>
            <a:ext cx="3246120" cy="3520440"/>
          </a:xfrm>
          <a:prstGeom prst="roundRect">
            <a:avLst/>
          </a:prstGeom>
          <a:solidFill>
            <a:srgbClr val="9CC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2514600"/>
            <a:ext cx="502920" cy="502920"/>
          </a:xfrm>
          <a:prstGeom prst="ellipse">
            <a:avLst/>
          </a:prstGeom>
          <a:solidFill>
            <a:srgbClr val="D2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81912" y="2898648"/>
            <a:ext cx="82296" cy="438912"/>
          </a:xfrm>
          <a:prstGeom prst="rect">
            <a:avLst/>
          </a:prstGeom>
          <a:solidFill>
            <a:srgbClr val="1B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94560" y="3840480"/>
            <a:ext cx="502920" cy="502920"/>
          </a:xfrm>
          <a:prstGeom prst="ellipse">
            <a:avLst/>
          </a:prstGeom>
          <a:solidFill>
            <a:srgbClr val="D2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4872" y="4224528"/>
            <a:ext cx="82296" cy="438912"/>
          </a:xfrm>
          <a:prstGeom prst="rect">
            <a:avLst/>
          </a:prstGeom>
          <a:solidFill>
            <a:srgbClr val="1B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71800" y="2971800"/>
            <a:ext cx="502920" cy="502920"/>
          </a:xfrm>
          <a:prstGeom prst="ellipse">
            <a:avLst/>
          </a:prstGeom>
          <a:solidFill>
            <a:srgbClr val="D2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82112" y="3355848"/>
            <a:ext cx="82296" cy="438912"/>
          </a:xfrm>
          <a:prstGeom prst="rect">
            <a:avLst/>
          </a:prstGeom>
          <a:solidFill>
            <a:srgbClr val="1B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2560320"/>
            <a:ext cx="502920" cy="502920"/>
          </a:xfrm>
          <a:prstGeom prst="ellipse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73752" y="2944368"/>
            <a:ext cx="82296" cy="438912"/>
          </a:xfrm>
          <a:prstGeom prst="rect">
            <a:avLst/>
          </a:prstGeom>
          <a:solidFill>
            <a:srgbClr val="1B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77840" y="3794760"/>
            <a:ext cx="502920" cy="502920"/>
          </a:xfrm>
          <a:prstGeom prst="ellipse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88152" y="4178808"/>
            <a:ext cx="82296" cy="438912"/>
          </a:xfrm>
          <a:prstGeom prst="rect">
            <a:avLst/>
          </a:prstGeom>
          <a:solidFill>
            <a:srgbClr val="1B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2907792"/>
            <a:ext cx="502920" cy="502920"/>
          </a:xfrm>
          <a:prstGeom prst="ellipse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11112" y="3291840"/>
            <a:ext cx="82296" cy="438912"/>
          </a:xfrm>
          <a:prstGeom prst="rect">
            <a:avLst/>
          </a:prstGeom>
          <a:solidFill>
            <a:srgbClr val="1B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074920"/>
            <a:ext cx="2697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000" b="1">
                <a:solidFill>
                  <a:srgbClr val="1B3630"/>
                </a:solidFill>
                <a:latin typeface="Aptos"/>
              </a:defRPr>
            </a:pPr>
            <a:r>
              <a:t>Sector más seco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5074920"/>
            <a:ext cx="2697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000" b="1">
                <a:solidFill>
                  <a:srgbClr val="1B3630"/>
                </a:solidFill>
                <a:latin typeface="Aptos"/>
              </a:defRPr>
            </a:pPr>
            <a:r>
              <a:t>Sector aún húmedo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057400"/>
            <a:ext cx="3108960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900" b="1">
                <a:solidFill>
                  <a:srgbClr val="1B3630"/>
                </a:solidFill>
                <a:latin typeface="Aptos"/>
              </a:defRPr>
            </a:pPr>
            <a:r>
              <a:t>¿Regar ambos sectores al mismo tiempo?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4663440"/>
            <a:ext cx="30632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892040"/>
            <a:ext cx="265176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1">
                <a:solidFill>
                  <a:srgbClr val="217153"/>
                </a:solidFill>
                <a:latin typeface="Aptos"/>
              </a:defRPr>
            </a:pPr>
            <a:r>
              <a:t>Primero hay que medir cada zona.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900" b="1">
                <a:solidFill>
                  <a:srgbClr val="1B3630"/>
                </a:solidFill>
                <a:latin typeface="Aptos"/>
              </a:defRPr>
            </a:pPr>
            <a:r>
              <a:t>Medición por zona, control desde la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0">
                <a:solidFill>
                  <a:srgbClr val="5B706A"/>
                </a:solidFill>
                <a:latin typeface="Aptos"/>
              </a:defRPr>
            </a:pPr>
            <a:r>
              <a:t>Los módulos de medición se recargan y la central conecta los datos con la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8229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100" b="0">
                <a:solidFill>
                  <a:srgbClr val="5B706A"/>
                </a:solidFill>
                <a:latin typeface="Aptos"/>
              </a:defRPr>
            </a:pPr>
            <a:r>
              <a:t>02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2880360" cy="3337560"/>
          </a:xfrm>
          <a:prstGeom prst="roundRect">
            <a:avLst/>
          </a:prstGeom>
          <a:solidFill>
            <a:srgbClr val="C4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42316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1">
                <a:solidFill>
                  <a:srgbClr val="1B3630"/>
                </a:solidFill>
                <a:latin typeface="Aptos"/>
              </a:defRPr>
            </a:pPr>
            <a:r>
              <a:t>Módulos dependientes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237744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0">
                <a:solidFill>
                  <a:srgbClr val="1B3630"/>
                </a:solidFill>
                <a:latin typeface="Aptos"/>
              </a:defRPr>
            </a:pPr>
            <a:r>
              <a:t>ESP32-C3</a:t>
            </a:r>
            <a:br/>
            <a:r>
              <a:t>Humedad por zona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2395728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>
                <a:solidFill>
                  <a:srgbClr val="217153"/>
                </a:solidFill>
                <a:latin typeface="Aptos"/>
              </a:defRPr>
            </a:pPr>
            <a:r>
              <a:t>Batería + recarga solar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737360"/>
            <a:ext cx="3337560" cy="3337560"/>
          </a:xfrm>
          <a:prstGeom prst="roundRect">
            <a:avLst/>
          </a:prstGeom>
          <a:solidFill>
            <a:srgbClr val="DF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011680"/>
            <a:ext cx="28346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1">
                <a:solidFill>
                  <a:srgbClr val="1B3630"/>
                </a:solidFill>
                <a:latin typeface="Aptos"/>
              </a:defRPr>
            </a:pPr>
            <a:r>
              <a:t>Módulo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788920"/>
            <a:ext cx="278892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0">
                <a:solidFill>
                  <a:srgbClr val="1B3630"/>
                </a:solidFill>
                <a:latin typeface="Aptos"/>
              </a:defRPr>
            </a:pPr>
            <a:r>
              <a:t>ESP32-S3</a:t>
            </a:r>
            <a:br/>
            <a:r>
              <a:t>Mide su zona y reúne lecturas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160520"/>
            <a:ext cx="2816352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>
                <a:solidFill>
                  <a:srgbClr val="217153"/>
                </a:solidFill>
                <a:latin typeface="Aptos"/>
              </a:defRPr>
            </a:pPr>
            <a:r>
              <a:t>Batería + recarga solar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737360"/>
            <a:ext cx="3337560" cy="1508760"/>
          </a:xfrm>
          <a:prstGeom prst="roundRect">
            <a:avLst/>
          </a:prstGeom>
          <a:solidFill>
            <a:srgbClr val="D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947672"/>
            <a:ext cx="28346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1">
                <a:solidFill>
                  <a:srgbClr val="1B3630"/>
                </a:solidFill>
                <a:latin typeface="Aptos"/>
              </a:defRPr>
            </a:pPr>
            <a:r>
              <a:t>Plataforma 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450592"/>
            <a:ext cx="2788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0">
                <a:solidFill>
                  <a:srgbClr val="1B3630"/>
                </a:solidFill>
                <a:latin typeface="Aptos"/>
              </a:defRPr>
            </a:pPr>
            <a:r>
              <a:t>Estado e historial por zona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584448"/>
            <a:ext cx="3337560" cy="1499616"/>
          </a:xfrm>
          <a:prstGeom prst="roundRect">
            <a:avLst/>
          </a:prstGeom>
          <a:solidFill>
            <a:srgbClr val="F3E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794760"/>
            <a:ext cx="28346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1B3630"/>
                </a:solidFill>
                <a:latin typeface="Aptos"/>
              </a:defRPr>
            </a:pPr>
            <a:r>
              <a:t>Controlador de riego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306824"/>
            <a:ext cx="283464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0">
                <a:solidFill>
                  <a:srgbClr val="1B3630"/>
                </a:solidFill>
                <a:latin typeface="Aptos"/>
              </a:defRPr>
            </a:pPr>
            <a:r>
              <a:t>Otro ESP activa la bomba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74720" y="3383280"/>
            <a:ext cx="502919" cy="0"/>
          </a:xfrm>
          <a:prstGeom prst="line">
            <a:avLst/>
          </a:prstGeom>
          <a:ln w="38100">
            <a:solidFill>
              <a:srgbClr val="2171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15200" y="2560320"/>
            <a:ext cx="502920" cy="0"/>
          </a:xfrm>
          <a:prstGeom prst="line">
            <a:avLst/>
          </a:prstGeom>
          <a:ln w="38100">
            <a:solidFill>
              <a:srgbClr val="398F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15200" y="4334256"/>
            <a:ext cx="502920" cy="0"/>
          </a:xfrm>
          <a:prstGeom prst="line">
            <a:avLst/>
          </a:prstGeom>
          <a:ln w="38100">
            <a:solidFill>
              <a:srgbClr val="D2AD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5596128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 b="0">
                <a:solidFill>
                  <a:srgbClr val="5B706A"/>
                </a:solidFill>
                <a:latin typeface="Aptos"/>
              </a:defRPr>
            </a:pPr>
            <a:r>
              <a:t>Maqueta: un controlador y una bomba muestran la orden de riego de una zona.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900" b="1">
                <a:solidFill>
                  <a:srgbClr val="1B3630"/>
                </a:solidFill>
                <a:latin typeface="Aptos"/>
              </a:defRPr>
            </a:pPr>
            <a:r>
              <a:t>Cada zona tiene su propio historial y su orden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0">
                <a:solidFill>
                  <a:srgbClr val="5B706A"/>
                </a:solidFill>
                <a:latin typeface="Aptos"/>
              </a:defRPr>
            </a:pPr>
            <a:r>
              <a:t>Vista conceptual de la web: diseño ilustrativo, sin datos medidos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8229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100" b="0">
                <a:solidFill>
                  <a:srgbClr val="5B706A"/>
                </a:solidFill>
                <a:latin typeface="Aptos"/>
              </a:defRPr>
            </a:pPr>
            <a:r>
              <a:t>03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6903720" cy="43525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41148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1">
                <a:solidFill>
                  <a:srgbClr val="1B3630"/>
                </a:solidFill>
                <a:latin typeface="Aptos"/>
              </a:defRPr>
            </a:pPr>
            <a:r>
              <a:t>Resumen por zonas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88920"/>
            <a:ext cx="45720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>
                <a:solidFill>
                  <a:srgbClr val="1B3630"/>
                </a:solidFill>
                <a:latin typeface="Aptos"/>
              </a:defRPr>
            </a:pPr>
            <a:r>
              <a:t>Zona A · suelo más seco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319272"/>
            <a:ext cx="5303520" cy="292608"/>
          </a:xfrm>
          <a:prstGeom prst="roundRect">
            <a:avLst/>
          </a:prstGeom>
          <a:solidFill>
            <a:srgbClr val="E4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3319272"/>
            <a:ext cx="2015337" cy="292608"/>
          </a:xfrm>
          <a:prstGeom prst="roundRect">
            <a:avLst/>
          </a:prstGeom>
          <a:solidFill>
            <a:srgbClr val="D2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4114800"/>
            <a:ext cx="45720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1">
                <a:solidFill>
                  <a:srgbClr val="1B3630"/>
                </a:solidFill>
                <a:latin typeface="Aptos"/>
              </a:defRPr>
            </a:pPr>
            <a:r>
              <a:t>Zona B · suelo más húmedo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645152"/>
            <a:ext cx="5303520" cy="292608"/>
          </a:xfrm>
          <a:prstGeom prst="roundRect">
            <a:avLst/>
          </a:prstGeom>
          <a:solidFill>
            <a:srgbClr val="E4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4645152"/>
            <a:ext cx="4030675" cy="292608"/>
          </a:xfrm>
          <a:prstGeom prst="roundRect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394960"/>
            <a:ext cx="5806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5B706A"/>
                </a:solidFill>
                <a:latin typeface="Aptos"/>
              </a:defRPr>
            </a:pPr>
            <a:r>
              <a:t>Barras cualitativas para explicar el caso; no son resultados.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2011680"/>
            <a:ext cx="3337560" cy="3566160"/>
          </a:xfrm>
          <a:prstGeom prst="roundRect">
            <a:avLst/>
          </a:prstGeom>
          <a:solidFill>
            <a:srgbClr val="EB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350008"/>
            <a:ext cx="276148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1">
                <a:solidFill>
                  <a:srgbClr val="1B3630"/>
                </a:solidFill>
                <a:latin typeface="Aptos"/>
              </a:defRPr>
            </a:pPr>
            <a:r>
              <a:t>Decisión por 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18688"/>
            <a:ext cx="2743200" cy="11521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000" b="0">
                <a:solidFill>
                  <a:srgbClr val="1B3630"/>
                </a:solidFill>
                <a:latin typeface="Aptos"/>
              </a:defRPr>
            </a:pPr>
            <a:r>
              <a:t>Se consulta la zona y se envía la orden al controlador asociado.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709160"/>
            <a:ext cx="2706624" cy="512064"/>
          </a:xfrm>
          <a:prstGeom prst="roundRect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4818888"/>
            <a:ext cx="240487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Activar bomba de zona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900" b="1">
                <a:solidFill>
                  <a:srgbClr val="1B3630"/>
                </a:solidFill>
                <a:latin typeface="Aptos"/>
              </a:defRPr>
            </a:pPr>
            <a:r>
              <a:t>Se empieza pequeño y se amplía por zonas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0">
                <a:solidFill>
                  <a:srgbClr val="5B706A"/>
                </a:solidFill>
                <a:latin typeface="Aptos"/>
              </a:defRPr>
            </a:pPr>
            <a:r>
              <a:t>Modelo de negocio y estrategia inicial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8229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100" b="0">
                <a:solidFill>
                  <a:srgbClr val="5B706A"/>
                </a:solidFill>
                <a:latin typeface="Aptos"/>
              </a:defRPr>
            </a:pPr>
            <a:r>
              <a:t>04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45720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1">
                <a:solidFill>
                  <a:srgbClr val="1B3630"/>
                </a:solidFill>
                <a:latin typeface="Aptos"/>
              </a:defRPr>
            </a:pPr>
            <a:r>
              <a:t>Instalación modular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1828800" cy="1600200"/>
          </a:xfrm>
          <a:prstGeom prst="roundRect">
            <a:avLst/>
          </a:prstGeom>
          <a:solidFill>
            <a:srgbClr val="C4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16936"/>
            <a:ext cx="155448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900" b="1">
                <a:solidFill>
                  <a:srgbClr val="1B3630"/>
                </a:solidFill>
                <a:latin typeface="Aptos"/>
              </a:defRPr>
            </a:pPr>
            <a:r>
              <a:t>Central</a:t>
            </a:r>
            <a:br/>
            <a:r>
              <a:t>+ primera zona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560320"/>
            <a:ext cx="1828800" cy="1600200"/>
          </a:xfrm>
          <a:prstGeom prst="roundRect">
            <a:avLst/>
          </a:prstGeom>
          <a:solidFill>
            <a:srgbClr val="DF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916936"/>
            <a:ext cx="155448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900" b="1">
                <a:solidFill>
                  <a:srgbClr val="1B3630"/>
                </a:solidFill>
                <a:latin typeface="Aptos"/>
              </a:defRPr>
            </a:pPr>
            <a:r>
              <a:t>Módulo</a:t>
            </a:r>
            <a:br/>
            <a:r>
              <a:t>dependiente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560320"/>
            <a:ext cx="1828800" cy="1600200"/>
          </a:xfrm>
          <a:prstGeom prst="roundRect">
            <a:avLst/>
          </a:prstGeom>
          <a:solidFill>
            <a:srgbClr val="DF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2916936"/>
            <a:ext cx="155448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900" b="1">
                <a:solidFill>
                  <a:srgbClr val="1B3630"/>
                </a:solidFill>
                <a:latin typeface="Aptos"/>
              </a:defRPr>
            </a:pPr>
            <a:r>
              <a:t>Controlador</a:t>
            </a:r>
            <a:br/>
            <a:r>
              <a:t>y bomba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17720"/>
            <a:ext cx="621792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 b="0">
                <a:solidFill>
                  <a:srgbClr val="1B3630"/>
                </a:solidFill>
                <a:latin typeface="Aptos"/>
              </a:defRPr>
            </a:pPr>
            <a:r>
              <a:t>Se añaden módulos y controladores según los sectores. El precio se definirá al comprobar costos.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54112" y="1719072"/>
            <a:ext cx="0" cy="4224528"/>
          </a:xfrm>
          <a:prstGeom prst="line">
            <a:avLst/>
          </a:prstGeom>
          <a:ln w="25400">
            <a:solidFill>
              <a:srgbClr val="CCDC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83879" y="1755648"/>
            <a:ext cx="29260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1">
                <a:solidFill>
                  <a:srgbClr val="1B3630"/>
                </a:solidFill>
                <a:latin typeface="Aptos"/>
              </a:defRPr>
            </a:pPr>
            <a:r>
              <a:t>Piloto en SMP</a:t>
            </a:r>
          </a:p>
        </p:txBody>
      </p:sp>
      <p:sp>
        <p:nvSpPr>
          <p:cNvPr id="16" name="Oval 15"/>
          <p:cNvSpPr/>
          <p:nvPr/>
        </p:nvSpPr>
        <p:spPr>
          <a:xfrm>
            <a:off x="8202168" y="2587752"/>
            <a:ext cx="484632" cy="484632"/>
          </a:xfrm>
          <a:prstGeom prst="ellipse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2656332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569464"/>
            <a:ext cx="224028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 b="0">
                <a:solidFill>
                  <a:srgbClr val="1B3630"/>
                </a:solidFill>
                <a:latin typeface="Aptos"/>
              </a:defRPr>
            </a:pPr>
            <a:r>
              <a:t>Comparar zonas de suelo</a:t>
            </a:r>
          </a:p>
        </p:txBody>
      </p:sp>
      <p:sp>
        <p:nvSpPr>
          <p:cNvPr id="19" name="Oval 18"/>
          <p:cNvSpPr/>
          <p:nvPr/>
        </p:nvSpPr>
        <p:spPr>
          <a:xfrm>
            <a:off x="8202168" y="3566160"/>
            <a:ext cx="484632" cy="484632"/>
          </a:xfrm>
          <a:prstGeom prst="ellipse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634740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547872"/>
            <a:ext cx="224028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 b="0">
                <a:solidFill>
                  <a:srgbClr val="1B3630"/>
                </a:solidFill>
                <a:latin typeface="Aptos"/>
              </a:defRPr>
            </a:pPr>
            <a:r>
              <a:t>Comprobar comunicación</a:t>
            </a:r>
          </a:p>
        </p:txBody>
      </p:sp>
      <p:sp>
        <p:nvSpPr>
          <p:cNvPr id="22" name="Oval 21"/>
          <p:cNvSpPr/>
          <p:nvPr/>
        </p:nvSpPr>
        <p:spPr>
          <a:xfrm>
            <a:off x="8202168" y="4544568"/>
            <a:ext cx="484632" cy="484632"/>
          </a:xfrm>
          <a:prstGeom prst="ellipse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4613148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526280"/>
            <a:ext cx="224028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 b="0">
                <a:solidFill>
                  <a:srgbClr val="1B3630"/>
                </a:solidFill>
                <a:latin typeface="Aptos"/>
              </a:defRPr>
            </a:pPr>
            <a:r>
              <a:t>Activar la bomba correcta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900" b="1">
                <a:solidFill>
                  <a:srgbClr val="1B3630"/>
                </a:solidFill>
                <a:latin typeface="Aptos"/>
              </a:defRPr>
            </a:pPr>
            <a:r>
              <a:t>Arquitectura definida; pruebas por realizar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0">
                <a:solidFill>
                  <a:srgbClr val="5B706A"/>
                </a:solidFill>
                <a:latin typeface="Aptos"/>
              </a:defRPr>
            </a:pPr>
            <a:r>
              <a:t>Avance y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8229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100" b="0">
                <a:solidFill>
                  <a:srgbClr val="5B706A"/>
                </a:solidFill>
                <a:latin typeface="Aptos"/>
              </a:defRPr>
            </a:pPr>
            <a:r>
              <a:t>05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4983480" cy="4251960"/>
          </a:xfrm>
          <a:prstGeom prst="roundRect">
            <a:avLst/>
          </a:prstGeom>
          <a:solidFill>
            <a:srgbClr val="E1E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048256"/>
            <a:ext cx="434340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400" b="1">
                <a:solidFill>
                  <a:srgbClr val="1B3630"/>
                </a:solidFill>
                <a:latin typeface="Aptos"/>
              </a:defRPr>
            </a:pPr>
            <a:r>
              <a:t>Lo que ya está planteado</a:t>
            </a:r>
          </a:p>
        </p:txBody>
      </p:sp>
      <p:sp>
        <p:nvSpPr>
          <p:cNvPr id="8" name="Oval 7"/>
          <p:cNvSpPr/>
          <p:nvPr/>
        </p:nvSpPr>
        <p:spPr>
          <a:xfrm>
            <a:off x="1133856" y="2971800"/>
            <a:ext cx="164592" cy="164592"/>
          </a:xfrm>
          <a:prstGeom prst="ellipse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0472" y="2880360"/>
            <a:ext cx="393192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0">
                <a:solidFill>
                  <a:srgbClr val="1B3630"/>
                </a:solidFill>
                <a:latin typeface="Aptos"/>
              </a:defRPr>
            </a:pPr>
            <a:r>
              <a:t>Central que también mide</a:t>
            </a:r>
          </a:p>
        </p:txBody>
      </p:sp>
      <p:sp>
        <p:nvSpPr>
          <p:cNvPr id="10" name="Oval 9"/>
          <p:cNvSpPr/>
          <p:nvPr/>
        </p:nvSpPr>
        <p:spPr>
          <a:xfrm>
            <a:off x="1133856" y="3749039"/>
            <a:ext cx="164592" cy="164592"/>
          </a:xfrm>
          <a:prstGeom prst="ellipse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0472" y="3657600"/>
            <a:ext cx="393192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0">
                <a:solidFill>
                  <a:srgbClr val="1B3630"/>
                </a:solidFill>
                <a:latin typeface="Aptos"/>
              </a:defRPr>
            </a:pPr>
            <a:r>
              <a:t>Módulos asociados por zona</a:t>
            </a:r>
          </a:p>
        </p:txBody>
      </p:sp>
      <p:sp>
        <p:nvSpPr>
          <p:cNvPr id="12" name="Oval 11"/>
          <p:cNvSpPr/>
          <p:nvPr/>
        </p:nvSpPr>
        <p:spPr>
          <a:xfrm>
            <a:off x="1133856" y="4526279"/>
            <a:ext cx="164592" cy="164592"/>
          </a:xfrm>
          <a:prstGeom prst="ellipse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" y="4434840"/>
            <a:ext cx="393192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0">
                <a:solidFill>
                  <a:srgbClr val="1B3630"/>
                </a:solidFill>
                <a:latin typeface="Aptos"/>
              </a:defRPr>
            </a:pPr>
            <a:r>
              <a:t>Web y controlador separados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737360"/>
            <a:ext cx="50292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048256"/>
            <a:ext cx="4407408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400" b="1">
                <a:solidFill>
                  <a:srgbClr val="1B3630"/>
                </a:solidFill>
                <a:latin typeface="Aptos"/>
              </a:defRPr>
            </a:pPr>
            <a:r>
              <a:t>Lo que debemos verificar</a:t>
            </a:r>
          </a:p>
        </p:txBody>
      </p:sp>
      <p:sp>
        <p:nvSpPr>
          <p:cNvPr id="16" name="Oval 15"/>
          <p:cNvSpPr/>
          <p:nvPr/>
        </p:nvSpPr>
        <p:spPr>
          <a:xfrm>
            <a:off x="6473952" y="2926080"/>
            <a:ext cx="164592" cy="164592"/>
          </a:xfrm>
          <a:prstGeom prst="ellipse">
            <a:avLst/>
          </a:prstGeom>
          <a:solidFill>
            <a:srgbClr val="D2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0568" y="2834640"/>
            <a:ext cx="3977639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0">
                <a:solidFill>
                  <a:srgbClr val="1B3630"/>
                </a:solidFill>
                <a:latin typeface="Aptos"/>
              </a:defRPr>
            </a:pPr>
            <a:r>
              <a:t>Autonomía y recarga solar</a:t>
            </a:r>
          </a:p>
        </p:txBody>
      </p:sp>
      <p:sp>
        <p:nvSpPr>
          <p:cNvPr id="18" name="Oval 17"/>
          <p:cNvSpPr/>
          <p:nvPr/>
        </p:nvSpPr>
        <p:spPr>
          <a:xfrm>
            <a:off x="6473952" y="3721608"/>
            <a:ext cx="164592" cy="164592"/>
          </a:xfrm>
          <a:prstGeom prst="ellipse">
            <a:avLst/>
          </a:prstGeom>
          <a:solidFill>
            <a:srgbClr val="D2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0568" y="3630168"/>
            <a:ext cx="3977639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0">
                <a:solidFill>
                  <a:srgbClr val="1B3630"/>
                </a:solidFill>
                <a:latin typeface="Aptos"/>
              </a:defRPr>
            </a:pPr>
            <a:r>
              <a:t>Alcance y fiabilidad de datos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4526279"/>
            <a:ext cx="164592" cy="164592"/>
          </a:xfrm>
          <a:prstGeom prst="ellipse">
            <a:avLst/>
          </a:prstGeom>
          <a:solidFill>
            <a:srgbClr val="D2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0568" y="4434840"/>
            <a:ext cx="3977639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0">
                <a:solidFill>
                  <a:srgbClr val="1B3630"/>
                </a:solidFill>
                <a:latin typeface="Aptos"/>
              </a:defRPr>
            </a:pPr>
            <a:r>
              <a:t>Respuesta del riego por zona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6144768"/>
            <a:ext cx="9875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0">
                <a:solidFill>
                  <a:srgbClr val="5B706A"/>
                </a:solidFill>
                <a:latin typeface="Aptos"/>
              </a:defRPr>
            </a:pPr>
            <a:r>
              <a:t>Equipo 07 · investigación, diseño, programación y documentación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900" b="1">
                <a:solidFill>
                  <a:srgbClr val="1B3630"/>
                </a:solidFill>
                <a:latin typeface="Aptos"/>
              </a:defRPr>
            </a:pPr>
            <a:r>
              <a:t>Buscamos validar la prueba de concepto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0">
                <a:solidFill>
                  <a:srgbClr val="5B706A"/>
                </a:solidFill>
                <a:latin typeface="Aptos"/>
              </a:defRPr>
            </a:pPr>
            <a:r>
              <a:t>Pedido y siguiente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8229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100" b="0">
                <a:solidFill>
                  <a:srgbClr val="5B706A"/>
                </a:solidFill>
                <a:latin typeface="Aptos"/>
              </a:defRPr>
            </a:pPr>
            <a:r>
              <a:t>06 / 06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103120"/>
            <a:ext cx="2788920" cy="2788920"/>
          </a:xfrm>
          <a:prstGeom prst="ellipse">
            <a:avLst/>
          </a:prstGeom>
          <a:solidFill>
            <a:srgbClr val="C9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09928" y="2779776"/>
            <a:ext cx="1371600" cy="1371600"/>
          </a:xfrm>
          <a:prstGeom prst="ellipse">
            <a:avLst/>
          </a:prstGeom>
          <a:solidFill>
            <a:srgbClr val="21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0824" y="3273552"/>
            <a:ext cx="78638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6766560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3000" b="1">
                <a:solidFill>
                  <a:srgbClr val="1B3630"/>
                </a:solidFill>
                <a:latin typeface="Aptos"/>
              </a:defRPr>
            </a:pPr>
            <a:r>
              <a:t>Un espacio pequeño para comparar zonas y probar el riego.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913632"/>
            <a:ext cx="6446520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100" b="0">
                <a:solidFill>
                  <a:srgbClr val="1B3630"/>
                </a:solidFill>
                <a:latin typeface="Aptos"/>
              </a:defRPr>
            </a:pPr>
            <a:r>
              <a:t>También necesitamos comentarios de responsables de áreas verdes para mejorar el prototipo.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5504688"/>
            <a:ext cx="60350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 b="1">
                <a:solidFill>
                  <a:srgbClr val="217153"/>
                </a:solidFill>
                <a:latin typeface="Aptos"/>
              </a:defRPr>
            </a:pPr>
            <a:r>
              <a:t>Siguiente meta: medir, mostrar y activar la zona indicada.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